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01016834c943f7" /><Relationship Type="http://schemas.openxmlformats.org/officeDocument/2006/relationships/extended-properties" Target="/docProps/app.xml" Id="R8a11529dd82f4399" /><Relationship Type="http://schemas.openxmlformats.org/officeDocument/2006/relationships/officeDocument" Target="/ppt/presentation.xml" Id="Rd2a71ba28b6746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d1f8050974317"/>
  </p:sldMasterIdLst>
  <p:notesMasterIdLst>
    <p:notesMasterId xmlns:r="http://schemas.openxmlformats.org/officeDocument/2006/relationships" r:id="R4a8438de8e9c4ba5"/>
  </p:notesMasterIdLst>
  <p:sldIdLst>
    <p:sldId xmlns:r="http://schemas.openxmlformats.org/officeDocument/2006/relationships" id="256" r:id="Rcbf5a268097a4f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8c8da99ef54570" /><Relationship Type="http://schemas.openxmlformats.org/officeDocument/2006/relationships/slideMaster" Target="/ppt/slideMasters/slideMaster1.xml" Id="Refbd1f8050974317" /><Relationship Type="http://schemas.openxmlformats.org/officeDocument/2006/relationships/notesMaster" Target="/ppt/notesMasters/notesMaster1.xml" Id="R4a8438de8e9c4ba5" /><Relationship Type="http://schemas.openxmlformats.org/officeDocument/2006/relationships/presProps" Target="/ppt/presProps.xml" Id="R33495a810eb24185" /><Relationship Type="http://schemas.openxmlformats.org/officeDocument/2006/relationships/tableStyles" Target="/ppt/tableStyles.xml" Id="R254647af72894675" /><Relationship Type="http://schemas.openxmlformats.org/officeDocument/2006/relationships/slide" Target="/ppt/slides/slide1.xml" Id="Rcbf5a268097a4f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f62f3f3afb48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b3e653a1c4b6b" /><Relationship Type="http://schemas.openxmlformats.org/officeDocument/2006/relationships/notesMaster" Target="/ppt/notesMasters/notesMaster1.xml" Id="R5f2962c9e6dd44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Một slide mockup cho prototype Case B AI Notes. Slide giữa là trang 6 của PDF Introduction-to-LLMs.pdf do người dùng cung cấp. Ghi chú C là nội dung mô phỏng dựa trên phần chữ đã trích từ PDF mẫu; không phải kết quả của mô hình AI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d4d8af4a7143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dcb20f9294c52" /><Relationship Type="http://schemas.openxmlformats.org/officeDocument/2006/relationships/slideLayout" Target="/ppt/slideLayouts/slideLayout1.xml" Id="R0e6b7382f63648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b7382f63648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d1fbe837d41f5" /><Relationship Type="http://schemas.openxmlformats.org/officeDocument/2006/relationships/image" Target="/ppt/media/image.jpeg" Id="R6cc8aed59d034bc6" /><Relationship Type="http://schemas.openxmlformats.org/officeDocument/2006/relationships/notesSlide" Target="/ppt/notesSlides/notesSlide1.xml" Id="Rbff63e82d7e34f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itle">
            <a:extLst xmlns:a="http://schemas.openxmlformats.org/drawingml/2006/main">
              <a:ext uri="{FF2B5EF4-FFF2-40B4-BE49-F238E27FC236}">
                <a16:creationId xmlns:a16="http://schemas.microsoft.com/office/drawing/2014/main" id="{C7F719CD-A035-4CCF-BB00-2351E2E0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38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2925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AI Notes từ bài học Introduction to LLMs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6981C8-E110-4D0A-A151-0511F9EE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14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500" b="0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Một bài PDF 94 slide, ba cách tạo ghi chú</a:t>
            </a:r>
          </a:p>
        </p:txBody>
      </p:sp>
      <p:sp>
        <p:nvSpPr>
          <p:cNvPr id="3" name="left-panel">
            <a:extLst xmlns:a="http://schemas.openxmlformats.org/drawingml/2006/main">
              <a:ext uri="{FF2B5EF4-FFF2-40B4-BE49-F238E27FC236}">
                <a16:creationId xmlns:a16="http://schemas.microsoft.com/office/drawing/2014/main" id="{B4F62CB5-E06D-4C09-8110-10034F62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2095500" cy="4762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7"/>
            </a:solidFill>
            <a:prstDash val="solid"/>
          </a:ln>
        </p:spPr>
      </p:sp>
      <p:sp>
        <p:nvSpPr>
          <p:cNvPr id="4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0B1E6E33-D05B-4855-95ED-E359A012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3 CÁCH LÀM</a:t>
            </a:r>
          </a:p>
        </p:txBody>
      </p:sp>
      <p:sp>
        <p:nvSpPr>
          <p:cNvPr id="5" name="a-card">
            <a:extLst xmlns:a="http://schemas.openxmlformats.org/drawingml/2006/main">
              <a:ext uri="{FF2B5EF4-FFF2-40B4-BE49-F238E27FC236}">
                <a16:creationId xmlns:a16="http://schemas.microsoft.com/office/drawing/2014/main" id="{D72CBE03-CC2D-41A9-B1B1-DE72CFB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1752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9F5"/>
          </a:solidFill>
          <a:ln xmlns:a="http://schemas.openxmlformats.org/drawingml/2006/main" w="9525">
            <a:solidFill>
              <a:srgbClr val="DFE8DF"/>
            </a:solidFill>
            <a:prstDash val="solid"/>
          </a:ln>
        </p:spPr>
      </p:sp>
      <p:sp>
        <p:nvSpPr>
          <p:cNvPr id="6" name="a-label">
            <a:extLst xmlns:a="http://schemas.openxmlformats.org/drawingml/2006/main">
              <a:ext uri="{FF2B5EF4-FFF2-40B4-BE49-F238E27FC236}">
                <a16:creationId xmlns:a16="http://schemas.microsoft.com/office/drawing/2014/main" id="{E7F7A209-88E4-4F8F-B9E3-46945A4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71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A</a:t>
            </a:r>
          </a:p>
        </p:txBody>
      </p:sp>
      <p:sp>
        <p:nvSpPr>
          <p:cNvPr id="7" name="a-title">
            <a:extLst xmlns:a="http://schemas.openxmlformats.org/drawingml/2006/main">
              <a:ext uri="{FF2B5EF4-FFF2-40B4-BE49-F238E27FC236}">
                <a16:creationId xmlns:a16="http://schemas.microsoft.com/office/drawing/2014/main" id="{6DC3E931-6644-488B-93BB-AC5837CE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90775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Tôi chọn trước</a:t>
            </a:r>
          </a:p>
        </p:txBody>
      </p:sp>
      <p:sp>
        <p:nvSpPr>
          <p:cNvPr id="8" name="a-body">
            <a:extLst xmlns:a="http://schemas.openxmlformats.org/drawingml/2006/main">
              <a:ext uri="{FF2B5EF4-FFF2-40B4-BE49-F238E27FC236}">
                <a16:creationId xmlns:a16="http://schemas.microsoft.com/office/drawing/2014/main" id="{4612DB55-8A41-419D-893E-BC84FB38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52725"/>
            <a:ext cx="1543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Đánh dấu slide rồi tổng hợp</a:t>
            </a:r>
          </a:p>
        </p:txBody>
      </p:sp>
      <p:sp>
        <p:nvSpPr>
          <p:cNvPr id="9" name="b-card">
            <a:extLst xmlns:a="http://schemas.openxmlformats.org/drawingml/2006/main">
              <a:ext uri="{FF2B5EF4-FFF2-40B4-BE49-F238E27FC236}">
                <a16:creationId xmlns:a16="http://schemas.microsoft.com/office/drawing/2014/main" id="{B8D1F6E2-03A7-4774-A08D-88672E27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33750"/>
            <a:ext cx="17526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6F9F5"/>
          </a:solidFill>
          <a:ln xmlns:a="http://schemas.openxmlformats.org/drawingml/2006/main" w="9525">
            <a:solidFill>
              <a:srgbClr val="DFE8DF"/>
            </a:solidFill>
            <a:prstDash val="solid"/>
          </a:ln>
        </p:spPr>
      </p:sp>
      <p:sp>
        <p:nvSpPr>
          <p:cNvPr id="10" name="b-label">
            <a:extLst xmlns:a="http://schemas.openxmlformats.org/drawingml/2006/main">
              <a:ext uri="{FF2B5EF4-FFF2-40B4-BE49-F238E27FC236}">
                <a16:creationId xmlns:a16="http://schemas.microsoft.com/office/drawing/2014/main" id="{60592F90-ECC1-4EAC-9027-49EA84B1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671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B</a:t>
            </a:r>
          </a:p>
        </p:txBody>
      </p:sp>
      <p:sp>
        <p:nvSpPr>
          <p:cNvPr id="11" name="b-title">
            <a:extLst xmlns:a="http://schemas.openxmlformats.org/drawingml/2006/main">
              <a:ext uri="{FF2B5EF4-FFF2-40B4-BE49-F238E27FC236}">
                <a16:creationId xmlns:a16="http://schemas.microsoft.com/office/drawing/2014/main" id="{6CAD7F1E-9EA1-495B-8A1B-B38B71DE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AI gợi ý</a:t>
            </a:r>
          </a:p>
        </p:txBody>
      </p:sp>
      <p:sp>
        <p:nvSpPr>
          <p:cNvPr id="12" name="b-body">
            <a:extLst xmlns:a="http://schemas.openxmlformats.org/drawingml/2006/main">
              <a:ext uri="{FF2B5EF4-FFF2-40B4-BE49-F238E27FC236}">
                <a16:creationId xmlns:a16="http://schemas.microsoft.com/office/drawing/2014/main" id="{A2F5EB86-D191-476A-A4F0-776B24DF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1543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050" b="0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Duyệt ý, thêm trang bị bỏ sót</a:t>
            </a:r>
          </a:p>
        </p:txBody>
      </p:sp>
      <p:sp>
        <p:nvSpPr>
          <p:cNvPr id="13" name="c-card">
            <a:extLst xmlns:a="http://schemas.openxmlformats.org/drawingml/2006/main">
              <a:ext uri="{FF2B5EF4-FFF2-40B4-BE49-F238E27FC236}">
                <a16:creationId xmlns:a16="http://schemas.microsoft.com/office/drawing/2014/main" id="{09FB2C39-73A1-4DA9-A23F-8D6D2CC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752600" cy="1457325"/>
          </a:xfrm>
          <a:prstGeom xmlns:a="http://schemas.openxmlformats.org/drawingml/2006/main" prst="roundRect">
            <a:avLst>
              <a:gd name="adj" fmla="val 5229"/>
            </a:avLst>
          </a:prstGeom>
          <a:solidFill xmlns:a="http://schemas.openxmlformats.org/drawingml/2006/main">
            <a:srgbClr val="E3F2E7"/>
          </a:solidFill>
          <a:ln xmlns:a="http://schemas.openxmlformats.org/drawingml/2006/main" w="9525">
            <a:solidFill>
              <a:srgbClr val="146B4A"/>
            </a:solidFill>
            <a:prstDash val="solid"/>
          </a:ln>
        </p:spPr>
      </p:sp>
      <p:sp>
        <p:nvSpPr>
          <p:cNvPr id="14" name="c-label">
            <a:extLst xmlns:a="http://schemas.openxmlformats.org/drawingml/2006/main">
              <a:ext uri="{FF2B5EF4-FFF2-40B4-BE49-F238E27FC236}">
                <a16:creationId xmlns:a16="http://schemas.microsoft.com/office/drawing/2014/main" id="{218A8B8D-8DA5-4CC3-A1CD-B137EF08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720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8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C</a:t>
            </a:r>
          </a:p>
        </p:txBody>
      </p:sp>
      <p:sp>
        <p:nvSpPr>
          <p:cNvPr id="15" name="c-title">
            <a:extLst xmlns:a="http://schemas.openxmlformats.org/drawingml/2006/main">
              <a:ext uri="{FF2B5EF4-FFF2-40B4-BE49-F238E27FC236}">
                <a16:creationId xmlns:a16="http://schemas.microsoft.com/office/drawing/2014/main" id="{A924A95E-7399-403F-B6EE-ACCF254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12096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350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AI tự tạo</a:t>
            </a:r>
          </a:p>
        </p:txBody>
      </p:sp>
      <p:sp>
        <p:nvSpPr>
          <p:cNvPr id="16" name="c-body">
            <a:extLst xmlns:a="http://schemas.openxmlformats.org/drawingml/2006/main">
              <a:ext uri="{FF2B5EF4-FFF2-40B4-BE49-F238E27FC236}">
                <a16:creationId xmlns:a16="http://schemas.microsoft.com/office/drawing/2014/main" id="{76D86508-FDAE-4C03-A008-DC25DECB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10150"/>
            <a:ext cx="15430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Mở C là có ghi chú từ bài học</a:t>
            </a:r>
          </a:p>
        </p:txBody>
      </p:sp>
      <p:sp>
        <p:nvSpPr>
          <p:cNvPr id="17" name="middle-panel">
            <a:extLst xmlns:a="http://schemas.openxmlformats.org/drawingml/2006/main">
              <a:ext uri="{FF2B5EF4-FFF2-40B4-BE49-F238E27FC236}">
                <a16:creationId xmlns:a16="http://schemas.microsoft.com/office/drawing/2014/main" id="{B533EEBC-5FE1-4957-9CFE-9A8D8065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504950"/>
            <a:ext cx="56578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D7"/>
            </a:solidFill>
            <a:prstDash val="solid"/>
          </a:ln>
        </p:spPr>
      </p:sp>
      <p:sp>
        <p:nvSpPr>
          <p:cNvPr id="18" name="middle-heading">
            <a:extLst xmlns:a="http://schemas.openxmlformats.org/drawingml/2006/main">
              <a:ext uri="{FF2B5EF4-FFF2-40B4-BE49-F238E27FC236}">
                <a16:creationId xmlns:a16="http://schemas.microsoft.com/office/drawing/2014/main" id="{7B726A14-933B-4185-B898-173FD8A1F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68592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BÀI HỌC POWERPOINT DẠNG PDF</a:t>
            </a:r>
          </a:p>
        </p:txBody>
      </p:sp>
      <p:sp>
        <p:nvSpPr>
          <p:cNvPr id="19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FA7CF522-B421-43FA-8F78-D326FD3E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1930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650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Introduction to Large Language Models</a:t>
            </a:r>
          </a:p>
        </p:txBody>
      </p:sp>
      <p:sp>
        <p:nvSpPr>
          <p:cNvPr id="20" name="page-label">
            <a:extLst xmlns:a="http://schemas.openxmlformats.org/drawingml/2006/main">
              <a:ext uri="{FF2B5EF4-FFF2-40B4-BE49-F238E27FC236}">
                <a16:creationId xmlns:a16="http://schemas.microsoft.com/office/drawing/2014/main" id="{08ADA0B8-C8EE-4979-B4B8-4E0C48DA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0982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125" b="1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SLIDE 6 / 94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aed59d034bc6"/>
          <a:stretch xmlns:a="http://schemas.openxmlformats.org/drawingml/2006/main"/>
        </p:blipFill>
        <p:spPr>
          <a:xfrm xmlns:a="http://schemas.openxmlformats.org/drawingml/2006/main">
            <a:off x="2876550" y="2783086"/>
            <a:ext cx="5276850" cy="2968228"/>
          </a:xfrm>
          <a:prstGeom xmlns:a="http://schemas.openxmlformats.org/drawingml/2006/main" prst="rect">
            <a:avLst/>
          </a:prstGeom>
        </p:spPr>
      </p:pic>
      <p:sp>
        <p:nvSpPr>
          <p:cNvPr id="22" name="source-hint">
            <a:extLst xmlns:a="http://schemas.openxmlformats.org/drawingml/2006/main">
              <a:ext uri="{FF2B5EF4-FFF2-40B4-BE49-F238E27FC236}">
                <a16:creationId xmlns:a16="http://schemas.microsoft.com/office/drawing/2014/main" id="{CFCEAED2-7432-404C-898C-BB382103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8769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Nút trên ghi chú đưa về đúng slide nguồn.</a:t>
            </a:r>
          </a:p>
        </p:txBody>
      </p:sp>
      <p:sp>
        <p:nvSpPr>
          <p:cNvPr id="23" name="right-panel">
            <a:extLst xmlns:a="http://schemas.openxmlformats.org/drawingml/2006/main">
              <a:ext uri="{FF2B5EF4-FFF2-40B4-BE49-F238E27FC236}">
                <a16:creationId xmlns:a16="http://schemas.microsoft.com/office/drawing/2014/main" id="{979ACD06-7EDE-4FE0-8D01-4F8C40CE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504950"/>
            <a:ext cx="3257550" cy="47625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CDB6"/>
            </a:solidFill>
            <a:prstDash val="solid"/>
          </a:ln>
        </p:spPr>
      </p:sp>
      <p:sp>
        <p:nvSpPr>
          <p:cNvPr id="24" name="right-top">
            <a:extLst xmlns:a="http://schemas.openxmlformats.org/drawingml/2006/main">
              <a:ext uri="{FF2B5EF4-FFF2-40B4-BE49-F238E27FC236}">
                <a16:creationId xmlns:a16="http://schemas.microsoft.com/office/drawing/2014/main" id="{02D6E783-FD6E-4850-A598-9812ED4F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514475"/>
            <a:ext cx="3238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note-heading">
            <a:extLst xmlns:a="http://schemas.openxmlformats.org/drawingml/2006/main">
              <a:ext uri="{FF2B5EF4-FFF2-40B4-BE49-F238E27FC236}">
                <a16:creationId xmlns:a16="http://schemas.microsoft.com/office/drawing/2014/main" id="{E6DA917C-DED7-4E23-8BDE-9D53C4EE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76400"/>
            <a:ext cx="2886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GHI CHÚ TỔNG HỢP · C</a:t>
            </a:r>
          </a:p>
        </p:txBody>
      </p:sp>
      <p:sp>
        <p:nvSpPr>
          <p:cNvPr id="26" name="note-title">
            <a:extLst xmlns:a="http://schemas.openxmlformats.org/drawingml/2006/main">
              <a:ext uri="{FF2B5EF4-FFF2-40B4-BE49-F238E27FC236}">
                <a16:creationId xmlns:a16="http://schemas.microsoft.com/office/drawing/2014/main" id="{E1E3DC17-9873-4D06-B61E-2B0440B2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43150"/>
            <a:ext cx="2886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Introduction to LLMs</a:t>
            </a:r>
          </a:p>
        </p:txBody>
      </p:sp>
      <p:sp>
        <p:nvSpPr>
          <p:cNvPr id="27" name="remember-label">
            <a:extLst xmlns:a="http://schemas.openxmlformats.org/drawingml/2006/main">
              <a:ext uri="{FF2B5EF4-FFF2-40B4-BE49-F238E27FC236}">
                <a16:creationId xmlns:a16="http://schemas.microsoft.com/office/drawing/2014/main" id="{470368B4-61DD-4D13-9C32-3279C99E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886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B4A"/>
                </a:solidFill>
                <a:latin typeface="Segoe UI"/>
                <a:ea typeface="Segoe UI"/>
                <a:cs typeface="Segoe UI"/>
              </a:defRPr>
            </a:pPr>
            <a:r>
              <a:rPr sz="1275" b="1">
                <a:solidFill>
                  <a:srgbClr val="146B4A"/>
                </a:solidFill>
                <a:latin typeface="Segoe UI"/>
                <a:ea typeface="Segoe UI"/>
                <a:cs typeface="Segoe UI"/>
              </a:rPr>
              <a:t>Điều muốn nhớ</a:t>
            </a:r>
          </a:p>
        </p:txBody>
      </p:sp>
      <p:sp>
        <p:nvSpPr>
          <p:cNvPr id="28" name="point-1">
            <a:extLst xmlns:a="http://schemas.openxmlformats.org/drawingml/2006/main">
              <a:ext uri="{FF2B5EF4-FFF2-40B4-BE49-F238E27FC236}">
                <a16:creationId xmlns:a16="http://schemas.microsoft.com/office/drawing/2014/main" id="{0609F15E-62A7-4525-82D2-3153A783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Mô hình ngôn ngữ · tr.6, 9</a:t>
            </a:r>
          </a:p>
        </p:txBody>
      </p:sp>
      <p:sp>
        <p:nvSpPr>
          <p:cNvPr id="29" name="point-2">
            <a:extLst xmlns:a="http://schemas.openxmlformats.org/drawingml/2006/main">
              <a:ext uri="{FF2B5EF4-FFF2-40B4-BE49-F238E27FC236}">
                <a16:creationId xmlns:a16="http://schemas.microsoft.com/office/drawing/2014/main" id="{1B9FBDEB-1C3A-4D48-86D8-BE5E9DBF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337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Tác vụ và few-shot · tr.8, 27</a:t>
            </a:r>
          </a:p>
        </p:txBody>
      </p:sp>
      <p:sp>
        <p:nvSpPr>
          <p:cNvPr id="30" name="point-3">
            <a:extLst xmlns:a="http://schemas.openxmlformats.org/drawingml/2006/main">
              <a:ext uri="{FF2B5EF4-FFF2-40B4-BE49-F238E27FC236}">
                <a16:creationId xmlns:a16="http://schemas.microsoft.com/office/drawing/2014/main" id="{62D85463-B79C-47FB-9C3A-1B6F9D97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2430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Pretraining, SFT, RLHF · tr.14, 18</a:t>
            </a:r>
          </a:p>
        </p:txBody>
      </p:sp>
      <p:sp>
        <p:nvSpPr>
          <p:cNvPr id="31" name="point-4">
            <a:extLst xmlns:a="http://schemas.openxmlformats.org/drawingml/2006/main">
              <a:ext uri="{FF2B5EF4-FFF2-40B4-BE49-F238E27FC236}">
                <a16:creationId xmlns:a16="http://schemas.microsoft.com/office/drawing/2014/main" id="{B5F9B203-7EFB-4ECD-9237-8F1F23D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1482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PPO và DPO · tr.43, 53</a:t>
            </a:r>
          </a:p>
        </p:txBody>
      </p:sp>
      <p:sp>
        <p:nvSpPr>
          <p:cNvPr id="32" name="point-5">
            <a:extLst xmlns:a="http://schemas.openxmlformats.org/drawingml/2006/main">
              <a:ext uri="{FF2B5EF4-FFF2-40B4-BE49-F238E27FC236}">
                <a16:creationId xmlns:a16="http://schemas.microsoft.com/office/drawing/2014/main" id="{2B3F7877-7FD8-4B5E-B092-4F80AB22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05350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Synthetic data · tr.57–60</a:t>
            </a:r>
          </a:p>
        </p:txBody>
      </p:sp>
      <p:sp>
        <p:nvSpPr>
          <p:cNvPr id="33" name="point-6">
            <a:extLst xmlns:a="http://schemas.openxmlformats.org/drawingml/2006/main">
              <a:ext uri="{FF2B5EF4-FFF2-40B4-BE49-F238E27FC236}">
                <a16:creationId xmlns:a16="http://schemas.microsoft.com/office/drawing/2014/main" id="{BC7E4D7E-D796-4CEF-900E-743F3BAF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095875"/>
            <a:ext cx="285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00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• Distillation · tr.83–84</a:t>
            </a:r>
          </a:p>
        </p:txBody>
      </p:sp>
      <p:sp>
        <p:nvSpPr>
          <p:cNvPr id="34" name="save-button">
            <a:extLst xmlns:a="http://schemas.openxmlformats.org/drawingml/2006/main">
              <a:ext uri="{FF2B5EF4-FFF2-40B4-BE49-F238E27FC236}">
                <a16:creationId xmlns:a16="http://schemas.microsoft.com/office/drawing/2014/main" id="{58D1D0E8-8F5C-494D-823D-4AB5EDD0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48325"/>
            <a:ext cx="15430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46B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ave-label">
            <a:extLst xmlns:a="http://schemas.openxmlformats.org/drawingml/2006/main">
              <a:ext uri="{FF2B5EF4-FFF2-40B4-BE49-F238E27FC236}">
                <a16:creationId xmlns:a16="http://schemas.microsoft.com/office/drawing/2014/main" id="{C5952879-B196-4D5E-AF15-1BE15FDE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150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12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Xác nhận và lưu</a:t>
            </a:r>
          </a:p>
        </p:txBody>
      </p:sp>
      <p:sp>
        <p:nvSpPr>
          <p:cNvPr id="36" name="save-info">
            <a:extLst xmlns:a="http://schemas.openxmlformats.org/drawingml/2006/main">
              <a:ext uri="{FF2B5EF4-FFF2-40B4-BE49-F238E27FC236}">
                <a16:creationId xmlns:a16="http://schemas.microsoft.com/office/drawing/2014/main" id="{DF59EAA1-9639-4C27-885D-DE6130AB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715000"/>
            <a:ext cx="1295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A6D60"/>
                </a:solidFill>
                <a:latin typeface="Segoe UI"/>
                <a:ea typeface="Segoe UI"/>
                <a:cs typeface="Segoe UI"/>
              </a:defRPr>
            </a:pPr>
            <a:r>
              <a:rPr sz="1125" b="0">
                <a:solidFill>
                  <a:srgbClr val="5A6D60"/>
                </a:solidFill>
                <a:latin typeface="Segoe UI"/>
                <a:ea typeface="Segoe UI"/>
                <a:cs typeface="Segoe UI"/>
              </a:rPr>
              <a:t>Chưa tự lưu</a:t>
            </a:r>
          </a:p>
        </p:txBody>
      </p:sp>
      <p:sp>
        <p:nvSpPr>
          <p:cNvPr id="37" name="footer">
            <a:extLst xmlns:a="http://schemas.openxmlformats.org/drawingml/2006/main">
              <a:ext uri="{FF2B5EF4-FFF2-40B4-BE49-F238E27FC236}">
                <a16:creationId xmlns:a16="http://schemas.microsoft.com/office/drawing/2014/main" id="{DE1FA57F-8B7A-4E94-ABD4-8DBF6094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91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3328"/>
                </a:solidFill>
                <a:latin typeface="Segoe UI"/>
                <a:ea typeface="Segoe UI"/>
                <a:cs typeface="Segoe UI"/>
              </a:defRPr>
            </a:pPr>
            <a:r>
              <a:rPr sz="1275" b="0">
                <a:solidFill>
                  <a:srgbClr val="173328"/>
                </a:solidFill>
                <a:latin typeface="Segoe UI"/>
                <a:ea typeface="Segoe UI"/>
                <a:cs typeface="Segoe UI"/>
              </a:rPr>
              <a:t>C đọc phần chữ đã trích từ PDF mẫu và tạo ghi chú ngay khi mở; người học vẫn được sửa hoặc bỏ.</a:t>
            </a:r>
          </a:p>
        </p:txBody>
      </p:sp>
    </p:spTree>
    <p:extLst>
      <p:ext uri="{BB962C8B-B14F-4D97-AF65-F5344CB8AC3E}">
        <p14:creationId xmlns:p14="http://schemas.microsoft.com/office/powerpoint/2010/main" val="778627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2026-10-05T05:56:16.5650000Z</dcterms:created>
  <dcterms:modified xsi:type="dcterms:W3CDTF">2026-10-05T05:56:16.5650000Z</dcterms:modified>
</coreProperties>
</file>